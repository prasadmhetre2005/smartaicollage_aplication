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agmatica" charset="1" panose="020B0503040502020204"/>
      <p:regular r:id="rId18"/>
    </p:embeddedFon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79109" y="7071244"/>
            <a:ext cx="13236047" cy="1974528"/>
            <a:chOff x="0" y="0"/>
            <a:chExt cx="3486037" cy="520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6037" cy="520040"/>
            </a:xfrm>
            <a:custGeom>
              <a:avLst/>
              <a:gdLst/>
              <a:ahLst/>
              <a:cxnLst/>
              <a:rect r="r" b="b" t="t" l="l"/>
              <a:pathLst>
                <a:path h="520040" w="3486037">
                  <a:moveTo>
                    <a:pt x="0" y="0"/>
                  </a:moveTo>
                  <a:lnTo>
                    <a:pt x="3486037" y="0"/>
                  </a:lnTo>
                  <a:lnTo>
                    <a:pt x="3486037" y="520040"/>
                  </a:lnTo>
                  <a:lnTo>
                    <a:pt x="0" y="520040"/>
                  </a:lnTo>
                  <a:close/>
                </a:path>
              </a:pathLst>
            </a:custGeom>
            <a:solidFill>
              <a:srgbClr val="84181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486037" cy="500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57830" y="3257663"/>
            <a:ext cx="2586689" cy="2586689"/>
          </a:xfrm>
          <a:custGeom>
            <a:avLst/>
            <a:gdLst/>
            <a:ahLst/>
            <a:cxnLst/>
            <a:rect r="r" b="b" t="t" l="l"/>
            <a:pathLst>
              <a:path h="2586689" w="2586689">
                <a:moveTo>
                  <a:pt x="0" y="0"/>
                </a:moveTo>
                <a:lnTo>
                  <a:pt x="2586689" y="0"/>
                </a:lnTo>
                <a:lnTo>
                  <a:pt x="2586689" y="2586689"/>
                </a:lnTo>
                <a:lnTo>
                  <a:pt x="0" y="2586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1210" y="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29520" y="1829962"/>
            <a:ext cx="8979216" cy="89792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59300" y="-377681"/>
            <a:ext cx="1476399" cy="1406381"/>
            <a:chOff x="0" y="0"/>
            <a:chExt cx="388846" cy="3704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846" cy="370405"/>
            </a:xfrm>
            <a:custGeom>
              <a:avLst/>
              <a:gdLst/>
              <a:ahLst/>
              <a:cxnLst/>
              <a:rect r="r" b="b" t="t" l="l"/>
              <a:pathLst>
                <a:path h="370405" w="388846">
                  <a:moveTo>
                    <a:pt x="0" y="0"/>
                  </a:moveTo>
                  <a:lnTo>
                    <a:pt x="388846" y="0"/>
                  </a:lnTo>
                  <a:lnTo>
                    <a:pt x="388846" y="370405"/>
                  </a:lnTo>
                  <a:lnTo>
                    <a:pt x="0" y="370405"/>
                  </a:lnTo>
                  <a:close/>
                </a:path>
              </a:pathLst>
            </a:custGeom>
            <a:solidFill>
              <a:srgbClr val="3038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88846" cy="351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0" y="2784348"/>
            <a:ext cx="8013464" cy="347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2"/>
              </a:lnSpc>
            </a:pPr>
            <a:r>
              <a:rPr lang="en-US" sz="8759">
                <a:solidFill>
                  <a:srgbClr val="000000"/>
                </a:solidFill>
                <a:latin typeface="Pragmatica"/>
                <a:ea typeface="Pragmatica"/>
                <a:cs typeface="Pragmatica"/>
                <a:sym typeface="Pragmatica"/>
              </a:rPr>
              <a:t>AI SMART COLLEGE ASSISTANT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74885" y="1483034"/>
            <a:ext cx="7207864" cy="63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b="true" sz="2371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Academic Management &amp; AI-Powered Learning Support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5849" y="2081008"/>
            <a:ext cx="13578460" cy="7048968"/>
            <a:chOff x="0" y="0"/>
            <a:chExt cx="3576220" cy="1856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6220" cy="1856518"/>
            </a:xfrm>
            <a:custGeom>
              <a:avLst/>
              <a:gdLst/>
              <a:ahLst/>
              <a:cxnLst/>
              <a:rect r="r" b="b" t="t" l="l"/>
              <a:pathLst>
                <a:path h="1856518" w="3576220">
                  <a:moveTo>
                    <a:pt x="0" y="0"/>
                  </a:moveTo>
                  <a:lnTo>
                    <a:pt x="3576220" y="0"/>
                  </a:lnTo>
                  <a:lnTo>
                    <a:pt x="3576220" y="1856518"/>
                  </a:lnTo>
                  <a:lnTo>
                    <a:pt x="0" y="1856518"/>
                  </a:lnTo>
                  <a:close/>
                </a:path>
              </a:pathLst>
            </a:custGeom>
            <a:solidFill>
              <a:srgbClr val="626262">
                <a:alpha val="2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576220" cy="1837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497487" y="840824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729172" y="1081269"/>
            <a:ext cx="4102687" cy="36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1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165823" y="4283910"/>
            <a:ext cx="10067318" cy="2012451"/>
            <a:chOff x="0" y="0"/>
            <a:chExt cx="2651475" cy="530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1475" cy="530028"/>
            </a:xfrm>
            <a:custGeom>
              <a:avLst/>
              <a:gdLst/>
              <a:ahLst/>
              <a:cxnLst/>
              <a:rect r="r" b="b" t="t" l="l"/>
              <a:pathLst>
                <a:path h="530028" w="2651475">
                  <a:moveTo>
                    <a:pt x="19225" y="0"/>
                  </a:moveTo>
                  <a:lnTo>
                    <a:pt x="2632249" y="0"/>
                  </a:lnTo>
                  <a:cubicBezTo>
                    <a:pt x="2642867" y="0"/>
                    <a:pt x="2651475" y="8607"/>
                    <a:pt x="2651475" y="19225"/>
                  </a:cubicBezTo>
                  <a:lnTo>
                    <a:pt x="2651475" y="510803"/>
                  </a:lnTo>
                  <a:cubicBezTo>
                    <a:pt x="2651475" y="521421"/>
                    <a:pt x="2642867" y="530028"/>
                    <a:pt x="2632249" y="530028"/>
                  </a:cubicBezTo>
                  <a:lnTo>
                    <a:pt x="19225" y="530028"/>
                  </a:lnTo>
                  <a:cubicBezTo>
                    <a:pt x="8607" y="530028"/>
                    <a:pt x="0" y="521421"/>
                    <a:pt x="0" y="510803"/>
                  </a:cubicBezTo>
                  <a:lnTo>
                    <a:pt x="0" y="19225"/>
                  </a:lnTo>
                  <a:cubicBezTo>
                    <a:pt x="0" y="8607"/>
                    <a:pt x="8607" y="0"/>
                    <a:pt x="19225" y="0"/>
                  </a:cubicBezTo>
                  <a:close/>
                </a:path>
              </a:pathLst>
            </a:custGeom>
            <a:solidFill>
              <a:srgbClr val="496B91">
                <a:alpha val="77647"/>
              </a:srgbClr>
            </a:solidFill>
            <a:ln w="38100" cap="rnd">
              <a:solidFill>
                <a:srgbClr val="000000">
                  <a:alpha val="77647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51475" cy="51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60782" y="4447443"/>
            <a:ext cx="8351614" cy="1623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3"/>
              </a:lnSpc>
            </a:pPr>
            <a:r>
              <a:rPr lang="en-US" sz="1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Smart College Assistant is an all-in-one intelligent academic platform.</a:t>
            </a:r>
          </a:p>
          <a:p>
            <a:pPr algn="l" marL="0" indent="0" lvl="0">
              <a:lnSpc>
                <a:spcPts val="2593"/>
              </a:lnSpc>
            </a:pPr>
            <a:r>
              <a:rPr lang="en-US" sz="1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students manage studies, deadlines, and placement prep.</a:t>
            </a:r>
          </a:p>
          <a:p>
            <a:pPr algn="l" marL="0" indent="0" lvl="0">
              <a:lnSpc>
                <a:spcPts val="2593"/>
              </a:lnSpc>
            </a:pPr>
            <a:r>
              <a:rPr lang="en-US" sz="1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faculty with assignments, attendance, and feedback tools.</a:t>
            </a:r>
          </a:p>
          <a:p>
            <a:pPr algn="l" marL="0" indent="0" lvl="0">
              <a:lnSpc>
                <a:spcPts val="2593"/>
              </a:lnSpc>
            </a:pPr>
            <a:r>
              <a:rPr lang="en-US" sz="1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Gives admins a centralized dashboard for academic management.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91285" y="8163659"/>
            <a:ext cx="13578460" cy="24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1"/>
              </a:lnSpc>
              <a:spcBef>
                <a:spcPct val="0"/>
              </a:spcBef>
            </a:pPr>
            <a:r>
              <a:rPr lang="en-US" sz="17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smart system — connecting students, faculty, and admins seamlessly.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82905" y="2422715"/>
            <a:ext cx="7611734" cy="684148"/>
            <a:chOff x="0" y="0"/>
            <a:chExt cx="2180722" cy="1960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0722" cy="196005"/>
            </a:xfrm>
            <a:custGeom>
              <a:avLst/>
              <a:gdLst/>
              <a:ahLst/>
              <a:cxnLst/>
              <a:rect r="r" b="b" t="t" l="l"/>
              <a:pathLst>
                <a:path h="196005" w="2180722">
                  <a:moveTo>
                    <a:pt x="0" y="0"/>
                  </a:moveTo>
                  <a:lnTo>
                    <a:pt x="1977522" y="0"/>
                  </a:lnTo>
                  <a:lnTo>
                    <a:pt x="2180722" y="98002"/>
                  </a:lnTo>
                  <a:lnTo>
                    <a:pt x="1977522" y="196005"/>
                  </a:lnTo>
                  <a:lnTo>
                    <a:pt x="0" y="196005"/>
                  </a:lnTo>
                  <a:lnTo>
                    <a:pt x="203200" y="98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B9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19050"/>
              <a:ext cx="1926722" cy="176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  <a:r>
                <a:rPr lang="en-US" sz="241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What is AI Smart College Assistant?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69685" y="2036677"/>
            <a:ext cx="13236047" cy="1974528"/>
            <a:chOff x="0" y="0"/>
            <a:chExt cx="3486037" cy="520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6037" cy="520040"/>
            </a:xfrm>
            <a:custGeom>
              <a:avLst/>
              <a:gdLst/>
              <a:ahLst/>
              <a:cxnLst/>
              <a:rect r="r" b="b" t="t" l="l"/>
              <a:pathLst>
                <a:path h="520040" w="3486037">
                  <a:moveTo>
                    <a:pt x="0" y="0"/>
                  </a:moveTo>
                  <a:lnTo>
                    <a:pt x="3486037" y="0"/>
                  </a:lnTo>
                  <a:lnTo>
                    <a:pt x="3486037" y="520040"/>
                  </a:lnTo>
                  <a:lnTo>
                    <a:pt x="0" y="520040"/>
                  </a:lnTo>
                  <a:close/>
                </a:path>
              </a:pathLst>
            </a:custGeom>
            <a:solidFill>
              <a:srgbClr val="496B9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486037" cy="500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269" y="190500"/>
            <a:ext cx="6594191" cy="5666882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182" t="0" r="-182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386544" y="1066800"/>
            <a:ext cx="4232710" cy="48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34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115050" y="4496980"/>
            <a:ext cx="9802416" cy="5200650"/>
            <a:chOff x="0" y="0"/>
            <a:chExt cx="2581706" cy="13697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81706" cy="1369719"/>
            </a:xfrm>
            <a:custGeom>
              <a:avLst/>
              <a:gdLst/>
              <a:ahLst/>
              <a:cxnLst/>
              <a:rect r="r" b="b" t="t" l="l"/>
              <a:pathLst>
                <a:path h="1369719" w="2581706">
                  <a:moveTo>
                    <a:pt x="2581706" y="0"/>
                  </a:moveTo>
                  <a:lnTo>
                    <a:pt x="2581706" y="1255419"/>
                  </a:lnTo>
                  <a:lnTo>
                    <a:pt x="1290853" y="1369719"/>
                  </a:lnTo>
                  <a:lnTo>
                    <a:pt x="0" y="1255419"/>
                  </a:lnTo>
                  <a:lnTo>
                    <a:pt x="0" y="0"/>
                  </a:lnTo>
                  <a:lnTo>
                    <a:pt x="2581706" y="0"/>
                  </a:lnTo>
                  <a:close/>
                </a:path>
              </a:pathLst>
            </a:custGeom>
            <a:solidFill>
              <a:srgbClr val="B0A79B">
                <a:alpha val="49804"/>
              </a:srgbClr>
            </a:solidFill>
            <a:ln w="3810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581706" cy="1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66459" y="2449780"/>
            <a:ext cx="11169770" cy="109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8"/>
              </a:lnSpc>
            </a:pPr>
            <a:r>
              <a:rPr lang="en-US" sz="204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main problem is that college information and resources are scattered across different platforms, making it difficult for students to access information, meet deadlines, prepare effectively, and receive personalized guidance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81979" y="4916080"/>
            <a:ext cx="8640915" cy="233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22" indent="-267161" lvl="1">
              <a:lnSpc>
                <a:spcPts val="4751"/>
              </a:lnSpc>
              <a:buFont typeface="Arial"/>
              <a:buChar char="•"/>
            </a:pPr>
            <a:r>
              <a:rPr lang="en-US" sz="2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</a:t>
            </a:r>
            <a:r>
              <a:rPr lang="en-US" sz="2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attered Academic Information</a:t>
            </a:r>
          </a:p>
          <a:p>
            <a:pPr algn="l" marL="534322" indent="-267161" lvl="1">
              <a:lnSpc>
                <a:spcPts val="4751"/>
              </a:lnSpc>
              <a:buFont typeface="Arial"/>
              <a:buChar char="•"/>
            </a:pPr>
            <a:r>
              <a:rPr lang="en-US" sz="2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Missed Deadlines &amp; Updates</a:t>
            </a:r>
          </a:p>
          <a:p>
            <a:pPr algn="l" marL="534322" indent="-267161" lvl="1">
              <a:lnSpc>
                <a:spcPts val="4751"/>
              </a:lnSpc>
              <a:buFont typeface="Arial"/>
              <a:buChar char="•"/>
            </a:pPr>
            <a:r>
              <a:rPr lang="en-US" sz="2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Fragmented Study Resources</a:t>
            </a:r>
          </a:p>
          <a:p>
            <a:pPr algn="l" marL="534322" indent="-267161" lvl="1">
              <a:lnSpc>
                <a:spcPts val="4751"/>
              </a:lnSpc>
              <a:buFont typeface="Arial"/>
              <a:buChar char="•"/>
            </a:pPr>
            <a:r>
              <a:rPr lang="en-US" sz="2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Personalized Guidance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57136" y="7933232"/>
            <a:ext cx="10661143" cy="65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 need 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intelligent platform that brings academic information, resources, guidance, and support together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7981" y="1567529"/>
            <a:ext cx="14872039" cy="7690771"/>
            <a:chOff x="0" y="0"/>
            <a:chExt cx="3916934" cy="2025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16934" cy="2025650"/>
            </a:xfrm>
            <a:custGeom>
              <a:avLst/>
              <a:gdLst/>
              <a:ahLst/>
              <a:cxnLst/>
              <a:rect r="r" b="b" t="t" l="l"/>
              <a:pathLst>
                <a:path h="2025650" w="3916934">
                  <a:moveTo>
                    <a:pt x="3916934" y="15096"/>
                  </a:moveTo>
                  <a:lnTo>
                    <a:pt x="3916934" y="2010553"/>
                  </a:lnTo>
                  <a:cubicBezTo>
                    <a:pt x="3916934" y="2014557"/>
                    <a:pt x="3915344" y="2018397"/>
                    <a:pt x="3912512" y="2021228"/>
                  </a:cubicBezTo>
                  <a:cubicBezTo>
                    <a:pt x="3909682" y="2024059"/>
                    <a:pt x="3905841" y="2025650"/>
                    <a:pt x="3901838" y="2025650"/>
                  </a:cubicBezTo>
                  <a:lnTo>
                    <a:pt x="15096" y="2025650"/>
                  </a:lnTo>
                  <a:cubicBezTo>
                    <a:pt x="11093" y="2025650"/>
                    <a:pt x="7253" y="2024059"/>
                    <a:pt x="4422" y="2021228"/>
                  </a:cubicBezTo>
                  <a:cubicBezTo>
                    <a:pt x="1591" y="2018397"/>
                    <a:pt x="0" y="2014557"/>
                    <a:pt x="0" y="2010553"/>
                  </a:cubicBezTo>
                  <a:lnTo>
                    <a:pt x="0" y="15096"/>
                  </a:lnTo>
                  <a:cubicBezTo>
                    <a:pt x="0" y="11093"/>
                    <a:pt x="1591" y="7253"/>
                    <a:pt x="4422" y="4422"/>
                  </a:cubicBezTo>
                  <a:cubicBezTo>
                    <a:pt x="7253" y="1591"/>
                    <a:pt x="11093" y="0"/>
                    <a:pt x="15096" y="0"/>
                  </a:cubicBezTo>
                  <a:lnTo>
                    <a:pt x="3901838" y="0"/>
                  </a:lnTo>
                  <a:cubicBezTo>
                    <a:pt x="3905841" y="0"/>
                    <a:pt x="3909682" y="1591"/>
                    <a:pt x="3912512" y="4422"/>
                  </a:cubicBezTo>
                  <a:cubicBezTo>
                    <a:pt x="3915344" y="7253"/>
                    <a:pt x="3916934" y="11093"/>
                    <a:pt x="3916934" y="15096"/>
                  </a:cubicBezTo>
                  <a:close/>
                </a:path>
              </a:pathLst>
            </a:custGeom>
            <a:solidFill>
              <a:srgbClr val="C3C5C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916934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8781" y="877675"/>
            <a:ext cx="6534348" cy="5246370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381" t="0" r="-38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94348" y="663906"/>
            <a:ext cx="3299305" cy="49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8"/>
              </a:lnSpc>
              <a:spcBef>
                <a:spcPct val="0"/>
              </a:spcBef>
            </a:pPr>
            <a:r>
              <a:rPr lang="en-US" b="true" sz="35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54554" y="2057400"/>
            <a:ext cx="5529526" cy="765872"/>
            <a:chOff x="0" y="0"/>
            <a:chExt cx="1456336" cy="201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6336" cy="201711"/>
            </a:xfrm>
            <a:custGeom>
              <a:avLst/>
              <a:gdLst/>
              <a:ahLst/>
              <a:cxnLst/>
              <a:rect r="r" b="b" t="t" l="l"/>
              <a:pathLst>
                <a:path h="201711" w="1456336">
                  <a:moveTo>
                    <a:pt x="23802" y="0"/>
                  </a:moveTo>
                  <a:lnTo>
                    <a:pt x="1432534" y="0"/>
                  </a:lnTo>
                  <a:cubicBezTo>
                    <a:pt x="1438847" y="0"/>
                    <a:pt x="1444901" y="2508"/>
                    <a:pt x="1449365" y="6971"/>
                  </a:cubicBezTo>
                  <a:cubicBezTo>
                    <a:pt x="1453828" y="11435"/>
                    <a:pt x="1456336" y="17489"/>
                    <a:pt x="1456336" y="23802"/>
                  </a:cubicBezTo>
                  <a:lnTo>
                    <a:pt x="1456336" y="177909"/>
                  </a:lnTo>
                  <a:cubicBezTo>
                    <a:pt x="1456336" y="184222"/>
                    <a:pt x="1453828" y="190276"/>
                    <a:pt x="1449365" y="194740"/>
                  </a:cubicBezTo>
                  <a:cubicBezTo>
                    <a:pt x="1444901" y="199203"/>
                    <a:pt x="1438847" y="201711"/>
                    <a:pt x="1432534" y="201711"/>
                  </a:cubicBezTo>
                  <a:lnTo>
                    <a:pt x="23802" y="201711"/>
                  </a:lnTo>
                  <a:cubicBezTo>
                    <a:pt x="10656" y="201711"/>
                    <a:pt x="0" y="191055"/>
                    <a:pt x="0" y="177909"/>
                  </a:cubicBezTo>
                  <a:lnTo>
                    <a:pt x="0" y="23802"/>
                  </a:lnTo>
                  <a:cubicBezTo>
                    <a:pt x="0" y="17489"/>
                    <a:pt x="2508" y="11435"/>
                    <a:pt x="6971" y="6971"/>
                  </a:cubicBezTo>
                  <a:cubicBezTo>
                    <a:pt x="11435" y="2508"/>
                    <a:pt x="17489" y="0"/>
                    <a:pt x="23802" y="0"/>
                  </a:cubicBezTo>
                  <a:close/>
                </a:path>
              </a:pathLst>
            </a:custGeom>
            <a:solidFill>
              <a:srgbClr val="22BAC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456336" cy="182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  <a:r>
                <a:rPr lang="en-US" b="true" sz="241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Main Objectives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781588" y="2858779"/>
            <a:ext cx="6933521" cy="647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📚 Cent</a:t>
            </a: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ralize academic resources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🤖 Provide document-based AI answers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📊 Automate attendance and assignment tracking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🎯 Improve placement preparation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📝 Generate dynamic quizzes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🎤 Provide AI mock interviews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🔔 Send timely notifications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  <a:r>
              <a:rPr lang="en-US" sz="21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👨‍🏫 Simplify faculty and admin management</a:t>
            </a:r>
          </a:p>
          <a:p>
            <a:pPr algn="l">
              <a:lnSpc>
                <a:spcPts val="2998"/>
              </a:lnSpc>
            </a:pPr>
          </a:p>
          <a:p>
            <a:pPr algn="l">
              <a:lnSpc>
                <a:spcPts val="299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1285" y="7087143"/>
            <a:ext cx="13578460" cy="2823087"/>
            <a:chOff x="0" y="0"/>
            <a:chExt cx="3576220" cy="7435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6220" cy="743529"/>
            </a:xfrm>
            <a:custGeom>
              <a:avLst/>
              <a:gdLst/>
              <a:ahLst/>
              <a:cxnLst/>
              <a:rect r="r" b="b" t="t" l="l"/>
              <a:pathLst>
                <a:path h="743529" w="3576220">
                  <a:moveTo>
                    <a:pt x="0" y="0"/>
                  </a:moveTo>
                  <a:lnTo>
                    <a:pt x="3576220" y="0"/>
                  </a:lnTo>
                  <a:lnTo>
                    <a:pt x="3576220" y="743529"/>
                  </a:lnTo>
                  <a:lnTo>
                    <a:pt x="0" y="743529"/>
                  </a:lnTo>
                  <a:close/>
                </a:path>
              </a:pathLst>
            </a:custGeom>
            <a:solidFill>
              <a:srgbClr val="626262">
                <a:alpha val="2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576220" cy="724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497487" y="840824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729172" y="1081269"/>
            <a:ext cx="4102687" cy="47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2"/>
              </a:lnSpc>
              <a:spcBef>
                <a:spcPct val="0"/>
              </a:spcBef>
            </a:pPr>
            <a:r>
              <a:rPr lang="en-US" sz="33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5849" y="9149026"/>
            <a:ext cx="13578460" cy="26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2"/>
              </a:lnSpc>
              <a:spcBef>
                <a:spcPct val="0"/>
              </a:spcBef>
            </a:pPr>
            <a:r>
              <a:rPr lang="en-US" sz="19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Before: Students struggle with fragmented tools → After: One smart, unified platform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57661" y="2756472"/>
            <a:ext cx="6240655" cy="3997673"/>
            <a:chOff x="0" y="0"/>
            <a:chExt cx="1657271" cy="10614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7272" cy="1061424"/>
            </a:xfrm>
            <a:custGeom>
              <a:avLst/>
              <a:gdLst/>
              <a:ahLst/>
              <a:cxnLst/>
              <a:rect r="r" b="b" t="t" l="l"/>
              <a:pathLst>
                <a:path h="1061424" w="1657272">
                  <a:moveTo>
                    <a:pt x="1657272" y="0"/>
                  </a:moveTo>
                  <a:lnTo>
                    <a:pt x="1657272" y="1061424"/>
                  </a:lnTo>
                  <a:lnTo>
                    <a:pt x="0" y="1061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8FC">
                <a:alpha val="8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657271" cy="1042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804530" y="2756848"/>
            <a:ext cx="6193786" cy="2149"/>
          </a:xfrm>
          <a:prstGeom prst="line">
            <a:avLst/>
          </a:pr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57661" y="6753768"/>
            <a:ext cx="6384683" cy="0"/>
          </a:xfrm>
          <a:prstGeom prst="line">
            <a:avLst/>
          </a:pr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340822" y="2656777"/>
            <a:ext cx="6240655" cy="3997673"/>
            <a:chOff x="0" y="0"/>
            <a:chExt cx="1657271" cy="10614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7272" cy="1061424"/>
            </a:xfrm>
            <a:custGeom>
              <a:avLst/>
              <a:gdLst/>
              <a:ahLst/>
              <a:cxnLst/>
              <a:rect r="r" b="b" t="t" l="l"/>
              <a:pathLst>
                <a:path h="1061424" w="1657272">
                  <a:moveTo>
                    <a:pt x="1657272" y="0"/>
                  </a:moveTo>
                  <a:lnTo>
                    <a:pt x="1657272" y="1061424"/>
                  </a:lnTo>
                  <a:lnTo>
                    <a:pt x="0" y="1061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8FC">
                <a:alpha val="8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1657271" cy="1042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1182363" y="2656777"/>
            <a:ext cx="6399114" cy="0"/>
          </a:xfrm>
          <a:prstGeom prst="line">
            <a:avLst/>
          </a:pr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285031" y="6618876"/>
            <a:ext cx="6343320" cy="0"/>
          </a:xfrm>
          <a:prstGeom prst="line">
            <a:avLst/>
          </a:pr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>
            <a:off x="5897880" y="2074775"/>
            <a:ext cx="6492240" cy="649224"/>
          </a:xfrm>
          <a:custGeom>
            <a:avLst/>
            <a:gdLst/>
            <a:ahLst/>
            <a:cxnLst/>
            <a:rect r="r" b="b" t="t" l="l"/>
            <a:pathLst>
              <a:path h="649224" w="6492240">
                <a:moveTo>
                  <a:pt x="0" y="649224"/>
                </a:moveTo>
                <a:quadBezTo>
                  <a:pt x="3246120" y="-649224"/>
                  <a:pt x="6492240" y="649224"/>
                </a:quadBezTo>
              </a:path>
            </a:pathLst>
          </a:cu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>
            <a:off x="5897880" y="6654073"/>
            <a:ext cx="6568569" cy="699953"/>
          </a:xfrm>
          <a:custGeom>
            <a:avLst/>
            <a:gdLst/>
            <a:ahLst/>
            <a:cxnLst/>
            <a:rect r="r" b="b" t="t" l="l"/>
            <a:pathLst>
              <a:path h="699953" w="6568569">
                <a:moveTo>
                  <a:pt x="6568569" y="0"/>
                </a:moveTo>
                <a:quadBezTo>
                  <a:pt x="3303990" y="1348146"/>
                  <a:pt x="0" y="99695"/>
                </a:quadBezTo>
              </a:path>
            </a:pathLst>
          </a:custGeom>
          <a:ln cap="flat" w="76200">
            <a:solidFill>
              <a:srgbClr val="2B20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57661" y="3187660"/>
            <a:ext cx="6240655" cy="287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649" indent="-260324" lvl="1">
              <a:lnSpc>
                <a:spcPts val="3255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inf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ormation manually</a:t>
            </a:r>
          </a:p>
          <a:p>
            <a:pPr algn="l" marL="520649" indent="-260324" lvl="1">
              <a:lnSpc>
                <a:spcPts val="3255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 on multiple communication channels</a:t>
            </a:r>
          </a:p>
          <a:p>
            <a:pPr algn="l" marL="520649" indent="-260324" lvl="1">
              <a:lnSpc>
                <a:spcPts val="3255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Manually track assignments and attendance</a:t>
            </a:r>
          </a:p>
          <a:p>
            <a:pPr algn="l" marL="520649" indent="-260324" lvl="1">
              <a:lnSpc>
                <a:spcPts val="3255"/>
              </a:lnSpc>
              <a:buFont typeface="Arial"/>
              <a:buChar char="•"/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Generic preparation resources</a:t>
            </a:r>
          </a:p>
          <a:p>
            <a:pPr algn="l">
              <a:lnSpc>
                <a:spcPts val="325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387696" y="3806195"/>
            <a:ext cx="6240655" cy="16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649" indent="-260324" lvl="1">
              <a:lnSpc>
                <a:spcPts val="3255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attendance management</a:t>
            </a:r>
          </a:p>
          <a:p>
            <a:pPr algn="l" marL="520649" indent="-260324" lvl="1">
              <a:lnSpc>
                <a:spcPts val="3255"/>
              </a:lnSpc>
              <a:spcBef>
                <a:spcPct val="0"/>
              </a:spcBef>
              <a:buFont typeface="Arial"/>
              <a:buChar char="•"/>
            </a:pPr>
            <a:r>
              <a:rPr lang="en-US" sz="241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Separate distribution of notes and notices</a:t>
            </a:r>
          </a:p>
          <a:p>
            <a:pPr algn="l" marL="520649" indent="-260324" lvl="1">
              <a:lnSpc>
                <a:spcPts val="3255"/>
              </a:lnSpc>
              <a:spcBef>
                <a:spcPct val="0"/>
              </a:spcBef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69685" y="2036677"/>
            <a:ext cx="13236047" cy="1974528"/>
            <a:chOff x="0" y="0"/>
            <a:chExt cx="3486037" cy="520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6037" cy="520040"/>
            </a:xfrm>
            <a:custGeom>
              <a:avLst/>
              <a:gdLst/>
              <a:ahLst/>
              <a:cxnLst/>
              <a:rect r="r" b="b" t="t" l="l"/>
              <a:pathLst>
                <a:path h="520040" w="3486037">
                  <a:moveTo>
                    <a:pt x="9359" y="0"/>
                  </a:moveTo>
                  <a:lnTo>
                    <a:pt x="3476678" y="0"/>
                  </a:lnTo>
                  <a:cubicBezTo>
                    <a:pt x="3479160" y="0"/>
                    <a:pt x="3481541" y="986"/>
                    <a:pt x="3483296" y="2741"/>
                  </a:cubicBezTo>
                  <a:cubicBezTo>
                    <a:pt x="3485051" y="4496"/>
                    <a:pt x="3486037" y="6877"/>
                    <a:pt x="3486037" y="9359"/>
                  </a:cubicBezTo>
                  <a:lnTo>
                    <a:pt x="3486037" y="510682"/>
                  </a:lnTo>
                  <a:cubicBezTo>
                    <a:pt x="3486037" y="513164"/>
                    <a:pt x="3485051" y="515544"/>
                    <a:pt x="3483296" y="517299"/>
                  </a:cubicBezTo>
                  <a:cubicBezTo>
                    <a:pt x="3481541" y="519054"/>
                    <a:pt x="3479160" y="520040"/>
                    <a:pt x="3476678" y="520040"/>
                  </a:cubicBezTo>
                  <a:lnTo>
                    <a:pt x="9359" y="520040"/>
                  </a:lnTo>
                  <a:cubicBezTo>
                    <a:pt x="4190" y="520040"/>
                    <a:pt x="0" y="515850"/>
                    <a:pt x="0" y="510682"/>
                  </a:cubicBezTo>
                  <a:lnTo>
                    <a:pt x="0" y="9359"/>
                  </a:lnTo>
                  <a:cubicBezTo>
                    <a:pt x="0" y="6877"/>
                    <a:pt x="986" y="4496"/>
                    <a:pt x="2741" y="2741"/>
                  </a:cubicBezTo>
                  <a:cubicBezTo>
                    <a:pt x="4496" y="986"/>
                    <a:pt x="6877" y="0"/>
                    <a:pt x="9359" y="0"/>
                  </a:cubicBezTo>
                  <a:close/>
                </a:path>
              </a:pathLst>
            </a:custGeom>
            <a:solidFill>
              <a:srgbClr val="496B9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486037" cy="500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269" y="190500"/>
            <a:ext cx="6594191" cy="5666882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182" t="0" r="-182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286500" y="4332716"/>
            <a:ext cx="9802416" cy="5200650"/>
            <a:chOff x="0" y="0"/>
            <a:chExt cx="2581706" cy="1369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81706" cy="1369719"/>
            </a:xfrm>
            <a:custGeom>
              <a:avLst/>
              <a:gdLst/>
              <a:ahLst/>
              <a:cxnLst/>
              <a:rect r="r" b="b" t="t" l="l"/>
              <a:pathLst>
                <a:path h="1369719" w="2581706">
                  <a:moveTo>
                    <a:pt x="2581706" y="0"/>
                  </a:moveTo>
                  <a:lnTo>
                    <a:pt x="2581706" y="1255419"/>
                  </a:lnTo>
                  <a:lnTo>
                    <a:pt x="1290853" y="1369719"/>
                  </a:lnTo>
                  <a:lnTo>
                    <a:pt x="0" y="1255419"/>
                  </a:lnTo>
                  <a:lnTo>
                    <a:pt x="0" y="0"/>
                  </a:lnTo>
                  <a:lnTo>
                    <a:pt x="2581706" y="0"/>
                  </a:lnTo>
                  <a:close/>
                </a:path>
              </a:pathLst>
            </a:custGeom>
            <a:solidFill>
              <a:srgbClr val="B0A79B">
                <a:alpha val="49804"/>
              </a:srgbClr>
            </a:solidFill>
            <a:ln w="3810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581706" cy="1236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4931" y="4634294"/>
            <a:ext cx="9165554" cy="1018413"/>
            <a:chOff x="0" y="0"/>
            <a:chExt cx="1885917" cy="2095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5916" cy="209550"/>
            </a:xfrm>
            <a:custGeom>
              <a:avLst/>
              <a:gdLst/>
              <a:ahLst/>
              <a:cxnLst/>
              <a:rect r="r" b="b" t="t" l="l"/>
              <a:pathLst>
                <a:path h="209550" w="1885916">
                  <a:moveTo>
                    <a:pt x="16498" y="0"/>
                  </a:moveTo>
                  <a:lnTo>
                    <a:pt x="1869419" y="0"/>
                  </a:lnTo>
                  <a:cubicBezTo>
                    <a:pt x="1873794" y="0"/>
                    <a:pt x="1877991" y="1738"/>
                    <a:pt x="1881084" y="4832"/>
                  </a:cubicBezTo>
                  <a:cubicBezTo>
                    <a:pt x="1884178" y="7926"/>
                    <a:pt x="1885916" y="12122"/>
                    <a:pt x="1885916" y="16498"/>
                  </a:cubicBezTo>
                  <a:lnTo>
                    <a:pt x="1885916" y="193052"/>
                  </a:lnTo>
                  <a:cubicBezTo>
                    <a:pt x="1885916" y="197428"/>
                    <a:pt x="1884178" y="201624"/>
                    <a:pt x="1881084" y="204718"/>
                  </a:cubicBezTo>
                  <a:cubicBezTo>
                    <a:pt x="1877991" y="207812"/>
                    <a:pt x="1873794" y="209550"/>
                    <a:pt x="1869419" y="209550"/>
                  </a:cubicBezTo>
                  <a:lnTo>
                    <a:pt x="16498" y="209550"/>
                  </a:lnTo>
                  <a:cubicBezTo>
                    <a:pt x="12122" y="209550"/>
                    <a:pt x="7926" y="207812"/>
                    <a:pt x="4832" y="204718"/>
                  </a:cubicBezTo>
                  <a:cubicBezTo>
                    <a:pt x="1738" y="201624"/>
                    <a:pt x="0" y="197428"/>
                    <a:pt x="0" y="193052"/>
                  </a:cubicBezTo>
                  <a:lnTo>
                    <a:pt x="0" y="16498"/>
                  </a:lnTo>
                  <a:cubicBezTo>
                    <a:pt x="0" y="12122"/>
                    <a:pt x="1738" y="7926"/>
                    <a:pt x="4832" y="4832"/>
                  </a:cubicBezTo>
                  <a:cubicBezTo>
                    <a:pt x="7926" y="1738"/>
                    <a:pt x="12122" y="0"/>
                    <a:pt x="16498" y="0"/>
                  </a:cubicBezTo>
                  <a:close/>
                </a:path>
              </a:pathLst>
            </a:custGeom>
            <a:solidFill>
              <a:srgbClr val="F1F4F8">
                <a:alpha val="25882"/>
              </a:srgbClr>
            </a:solidFill>
            <a:ln w="38100" cap="rnd">
              <a:solidFill>
                <a:srgbClr val="000000">
                  <a:alpha val="25882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885917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86544" y="1066800"/>
            <a:ext cx="4232710" cy="48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34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Proposed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8549" y="2571154"/>
            <a:ext cx="9646333" cy="7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platf</a:t>
            </a:r>
            <a:r>
              <a:rPr lang="en-US" sz="29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orm to manage academics, learning, and placement preparation intelligently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78549" y="5162550"/>
            <a:ext cx="8183834" cy="27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  <a:spcBef>
                <a:spcPct val="0"/>
              </a:spcBef>
            </a:pP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</a:t>
            </a: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ralized view of academic activities and student progress.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796572"/>
            <a:ext cx="3769240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Academic Dashboard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7689" y="5783667"/>
            <a:ext cx="9165554" cy="1018413"/>
            <a:chOff x="0" y="0"/>
            <a:chExt cx="1885917" cy="209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5916" cy="209550"/>
            </a:xfrm>
            <a:custGeom>
              <a:avLst/>
              <a:gdLst/>
              <a:ahLst/>
              <a:cxnLst/>
              <a:rect r="r" b="b" t="t" l="l"/>
              <a:pathLst>
                <a:path h="209550" w="1885916">
                  <a:moveTo>
                    <a:pt x="16498" y="0"/>
                  </a:moveTo>
                  <a:lnTo>
                    <a:pt x="1869419" y="0"/>
                  </a:lnTo>
                  <a:cubicBezTo>
                    <a:pt x="1873794" y="0"/>
                    <a:pt x="1877991" y="1738"/>
                    <a:pt x="1881084" y="4832"/>
                  </a:cubicBezTo>
                  <a:cubicBezTo>
                    <a:pt x="1884178" y="7926"/>
                    <a:pt x="1885916" y="12122"/>
                    <a:pt x="1885916" y="16498"/>
                  </a:cubicBezTo>
                  <a:lnTo>
                    <a:pt x="1885916" y="193052"/>
                  </a:lnTo>
                  <a:cubicBezTo>
                    <a:pt x="1885916" y="197428"/>
                    <a:pt x="1884178" y="201624"/>
                    <a:pt x="1881084" y="204718"/>
                  </a:cubicBezTo>
                  <a:cubicBezTo>
                    <a:pt x="1877991" y="207812"/>
                    <a:pt x="1873794" y="209550"/>
                    <a:pt x="1869419" y="209550"/>
                  </a:cubicBezTo>
                  <a:lnTo>
                    <a:pt x="16498" y="209550"/>
                  </a:lnTo>
                  <a:cubicBezTo>
                    <a:pt x="12122" y="209550"/>
                    <a:pt x="7926" y="207812"/>
                    <a:pt x="4832" y="204718"/>
                  </a:cubicBezTo>
                  <a:cubicBezTo>
                    <a:pt x="1738" y="201624"/>
                    <a:pt x="0" y="197428"/>
                    <a:pt x="0" y="193052"/>
                  </a:cubicBezTo>
                  <a:lnTo>
                    <a:pt x="0" y="16498"/>
                  </a:lnTo>
                  <a:cubicBezTo>
                    <a:pt x="0" y="12122"/>
                    <a:pt x="1738" y="7926"/>
                    <a:pt x="4832" y="4832"/>
                  </a:cubicBezTo>
                  <a:cubicBezTo>
                    <a:pt x="7926" y="1738"/>
                    <a:pt x="12122" y="0"/>
                    <a:pt x="16498" y="0"/>
                  </a:cubicBezTo>
                  <a:close/>
                </a:path>
              </a:pathLst>
            </a:custGeom>
            <a:solidFill>
              <a:srgbClr val="F1F4F8">
                <a:alpha val="25882"/>
              </a:srgbClr>
            </a:solidFill>
            <a:ln w="38100" cap="rnd">
              <a:solidFill>
                <a:srgbClr val="000000">
                  <a:alpha val="25882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885917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53120" y="6019661"/>
            <a:ext cx="5834692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Attendance &amp; Assignment Tracking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2196" y="6385639"/>
            <a:ext cx="8816540" cy="27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  <a:spcBef>
                <a:spcPct val="0"/>
              </a:spcBef>
            </a:pP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</a:t>
            </a: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attendance, assignments, and academic progress in one place.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87689" y="6933041"/>
            <a:ext cx="9165554" cy="1018413"/>
            <a:chOff x="0" y="0"/>
            <a:chExt cx="1885917" cy="209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85916" cy="209550"/>
            </a:xfrm>
            <a:custGeom>
              <a:avLst/>
              <a:gdLst/>
              <a:ahLst/>
              <a:cxnLst/>
              <a:rect r="r" b="b" t="t" l="l"/>
              <a:pathLst>
                <a:path h="209550" w="1885916">
                  <a:moveTo>
                    <a:pt x="16498" y="0"/>
                  </a:moveTo>
                  <a:lnTo>
                    <a:pt x="1869419" y="0"/>
                  </a:lnTo>
                  <a:cubicBezTo>
                    <a:pt x="1873794" y="0"/>
                    <a:pt x="1877991" y="1738"/>
                    <a:pt x="1881084" y="4832"/>
                  </a:cubicBezTo>
                  <a:cubicBezTo>
                    <a:pt x="1884178" y="7926"/>
                    <a:pt x="1885916" y="12122"/>
                    <a:pt x="1885916" y="16498"/>
                  </a:cubicBezTo>
                  <a:lnTo>
                    <a:pt x="1885916" y="193052"/>
                  </a:lnTo>
                  <a:cubicBezTo>
                    <a:pt x="1885916" y="197428"/>
                    <a:pt x="1884178" y="201624"/>
                    <a:pt x="1881084" y="204718"/>
                  </a:cubicBezTo>
                  <a:cubicBezTo>
                    <a:pt x="1877991" y="207812"/>
                    <a:pt x="1873794" y="209550"/>
                    <a:pt x="1869419" y="209550"/>
                  </a:cubicBezTo>
                  <a:lnTo>
                    <a:pt x="16498" y="209550"/>
                  </a:lnTo>
                  <a:cubicBezTo>
                    <a:pt x="12122" y="209550"/>
                    <a:pt x="7926" y="207812"/>
                    <a:pt x="4832" y="204718"/>
                  </a:cubicBezTo>
                  <a:cubicBezTo>
                    <a:pt x="1738" y="201624"/>
                    <a:pt x="0" y="197428"/>
                    <a:pt x="0" y="193052"/>
                  </a:cubicBezTo>
                  <a:lnTo>
                    <a:pt x="0" y="16498"/>
                  </a:lnTo>
                  <a:cubicBezTo>
                    <a:pt x="0" y="12122"/>
                    <a:pt x="1738" y="7926"/>
                    <a:pt x="4832" y="4832"/>
                  </a:cubicBezTo>
                  <a:cubicBezTo>
                    <a:pt x="7926" y="1738"/>
                    <a:pt x="12122" y="0"/>
                    <a:pt x="16498" y="0"/>
                  </a:cubicBezTo>
                  <a:close/>
                </a:path>
              </a:pathLst>
            </a:custGeom>
            <a:solidFill>
              <a:srgbClr val="F1F4F8">
                <a:alpha val="25882"/>
              </a:srgbClr>
            </a:solidFill>
            <a:ln w="38100" cap="rnd">
              <a:solidFill>
                <a:srgbClr val="000000">
                  <a:alpha val="25882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885917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62196" y="7392630"/>
            <a:ext cx="8991047" cy="51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  <a:spcBef>
                <a:spcPct val="0"/>
              </a:spcBef>
            </a:pP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updated with assignments, deadlines,</a:t>
            </a: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important academic alerts.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87689" y="8084804"/>
            <a:ext cx="9165554" cy="1018413"/>
            <a:chOff x="0" y="0"/>
            <a:chExt cx="1885917" cy="2095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85916" cy="209550"/>
            </a:xfrm>
            <a:custGeom>
              <a:avLst/>
              <a:gdLst/>
              <a:ahLst/>
              <a:cxnLst/>
              <a:rect r="r" b="b" t="t" l="l"/>
              <a:pathLst>
                <a:path h="209550" w="1885916">
                  <a:moveTo>
                    <a:pt x="16498" y="0"/>
                  </a:moveTo>
                  <a:lnTo>
                    <a:pt x="1869419" y="0"/>
                  </a:lnTo>
                  <a:cubicBezTo>
                    <a:pt x="1873794" y="0"/>
                    <a:pt x="1877991" y="1738"/>
                    <a:pt x="1881084" y="4832"/>
                  </a:cubicBezTo>
                  <a:cubicBezTo>
                    <a:pt x="1884178" y="7926"/>
                    <a:pt x="1885916" y="12122"/>
                    <a:pt x="1885916" y="16498"/>
                  </a:cubicBezTo>
                  <a:lnTo>
                    <a:pt x="1885916" y="193052"/>
                  </a:lnTo>
                  <a:cubicBezTo>
                    <a:pt x="1885916" y="197428"/>
                    <a:pt x="1884178" y="201624"/>
                    <a:pt x="1881084" y="204718"/>
                  </a:cubicBezTo>
                  <a:cubicBezTo>
                    <a:pt x="1877991" y="207812"/>
                    <a:pt x="1873794" y="209550"/>
                    <a:pt x="1869419" y="209550"/>
                  </a:cubicBezTo>
                  <a:lnTo>
                    <a:pt x="16498" y="209550"/>
                  </a:lnTo>
                  <a:cubicBezTo>
                    <a:pt x="12122" y="209550"/>
                    <a:pt x="7926" y="207812"/>
                    <a:pt x="4832" y="204718"/>
                  </a:cubicBezTo>
                  <a:cubicBezTo>
                    <a:pt x="1738" y="201624"/>
                    <a:pt x="0" y="197428"/>
                    <a:pt x="0" y="193052"/>
                  </a:cubicBezTo>
                  <a:lnTo>
                    <a:pt x="0" y="16498"/>
                  </a:lnTo>
                  <a:cubicBezTo>
                    <a:pt x="0" y="12122"/>
                    <a:pt x="1738" y="7926"/>
                    <a:pt x="4832" y="4832"/>
                  </a:cubicBezTo>
                  <a:cubicBezTo>
                    <a:pt x="7926" y="1738"/>
                    <a:pt x="12122" y="0"/>
                    <a:pt x="16498" y="0"/>
                  </a:cubicBezTo>
                  <a:close/>
                </a:path>
              </a:pathLst>
            </a:custGeom>
            <a:solidFill>
              <a:srgbClr val="F1F4F8">
                <a:alpha val="25882"/>
              </a:srgbClr>
            </a:solidFill>
            <a:ln w="38100" cap="rnd">
              <a:solidFill>
                <a:srgbClr val="000000">
                  <a:alpha val="25882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1885917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1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111274" y="8246729"/>
            <a:ext cx="5834692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AI Placement Prepara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40374" y="7026652"/>
            <a:ext cx="5834692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Notifications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79438" y="8613061"/>
            <a:ext cx="8816540" cy="27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  <a:spcBef>
                <a:spcPct val="0"/>
              </a:spcBef>
            </a:pP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Practice mock interviews</a:t>
            </a:r>
            <a:r>
              <a:rPr lang="en-US" sz="19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prepare with AI-driven guidance.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7095320"/>
            <a:ext cx="3822836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Dynamic Quiz Generator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3004" y="7970504"/>
            <a:ext cx="3326681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Perso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nalized Learning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4921" y="8939278"/>
            <a:ext cx="2546635" cy="34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1"/>
              </a:lnSpc>
              <a:spcBef>
                <a:spcPct val="0"/>
              </a:spcBef>
            </a:pP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</a:t>
            </a:r>
            <a:r>
              <a:rPr lang="en-US" sz="2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 Timetable</a:t>
            </a:r>
          </a:p>
        </p:txBody>
      </p:sp>
      <p:sp>
        <p:nvSpPr>
          <p:cNvPr name="AutoShape 36" id="36"/>
          <p:cNvSpPr/>
          <p:nvPr/>
        </p:nvSpPr>
        <p:spPr>
          <a:xfrm flipV="true">
            <a:off x="402437" y="6459501"/>
            <a:ext cx="5075472" cy="146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402492" y="9660105"/>
            <a:ext cx="5075472" cy="146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7981" y="1465763"/>
            <a:ext cx="14872039" cy="7690771"/>
            <a:chOff x="0" y="0"/>
            <a:chExt cx="3916934" cy="2025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16934" cy="2025650"/>
            </a:xfrm>
            <a:custGeom>
              <a:avLst/>
              <a:gdLst/>
              <a:ahLst/>
              <a:cxnLst/>
              <a:rect r="r" b="b" t="t" l="l"/>
              <a:pathLst>
                <a:path h="2025650" w="3916934">
                  <a:moveTo>
                    <a:pt x="3916934" y="15096"/>
                  </a:moveTo>
                  <a:lnTo>
                    <a:pt x="3916934" y="2010553"/>
                  </a:lnTo>
                  <a:cubicBezTo>
                    <a:pt x="3916934" y="2014557"/>
                    <a:pt x="3915344" y="2018397"/>
                    <a:pt x="3912512" y="2021228"/>
                  </a:cubicBezTo>
                  <a:cubicBezTo>
                    <a:pt x="3909682" y="2024059"/>
                    <a:pt x="3905841" y="2025650"/>
                    <a:pt x="3901838" y="2025650"/>
                  </a:cubicBezTo>
                  <a:lnTo>
                    <a:pt x="15096" y="2025650"/>
                  </a:lnTo>
                  <a:cubicBezTo>
                    <a:pt x="11093" y="2025650"/>
                    <a:pt x="7253" y="2024059"/>
                    <a:pt x="4422" y="2021228"/>
                  </a:cubicBezTo>
                  <a:cubicBezTo>
                    <a:pt x="1591" y="2018397"/>
                    <a:pt x="0" y="2014557"/>
                    <a:pt x="0" y="2010553"/>
                  </a:cubicBezTo>
                  <a:lnTo>
                    <a:pt x="0" y="15096"/>
                  </a:lnTo>
                  <a:cubicBezTo>
                    <a:pt x="0" y="11093"/>
                    <a:pt x="1591" y="7253"/>
                    <a:pt x="4422" y="4422"/>
                  </a:cubicBezTo>
                  <a:cubicBezTo>
                    <a:pt x="7253" y="1591"/>
                    <a:pt x="11093" y="0"/>
                    <a:pt x="15096" y="0"/>
                  </a:cubicBezTo>
                  <a:lnTo>
                    <a:pt x="3901838" y="0"/>
                  </a:lnTo>
                  <a:cubicBezTo>
                    <a:pt x="3905841" y="0"/>
                    <a:pt x="3909682" y="1591"/>
                    <a:pt x="3912512" y="4422"/>
                  </a:cubicBezTo>
                  <a:cubicBezTo>
                    <a:pt x="3915344" y="7253"/>
                    <a:pt x="3916934" y="11093"/>
                    <a:pt x="3916934" y="15096"/>
                  </a:cubicBezTo>
                  <a:close/>
                </a:path>
              </a:pathLst>
            </a:custGeom>
            <a:solidFill>
              <a:srgbClr val="C3C5C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916934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8781" y="877675"/>
            <a:ext cx="6534348" cy="5246370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381" t="0" r="-38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94348" y="644856"/>
            <a:ext cx="3299305" cy="50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192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Exam Paper Scanning &amp; Checking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7981" y="1465763"/>
            <a:ext cx="14872039" cy="7690771"/>
            <a:chOff x="0" y="0"/>
            <a:chExt cx="3916934" cy="2025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16934" cy="2025650"/>
            </a:xfrm>
            <a:custGeom>
              <a:avLst/>
              <a:gdLst/>
              <a:ahLst/>
              <a:cxnLst/>
              <a:rect r="r" b="b" t="t" l="l"/>
              <a:pathLst>
                <a:path h="2025650" w="3916934">
                  <a:moveTo>
                    <a:pt x="3916934" y="15096"/>
                  </a:moveTo>
                  <a:lnTo>
                    <a:pt x="3916934" y="2010553"/>
                  </a:lnTo>
                  <a:cubicBezTo>
                    <a:pt x="3916934" y="2014557"/>
                    <a:pt x="3915344" y="2018397"/>
                    <a:pt x="3912512" y="2021228"/>
                  </a:cubicBezTo>
                  <a:cubicBezTo>
                    <a:pt x="3909682" y="2024059"/>
                    <a:pt x="3905841" y="2025650"/>
                    <a:pt x="3901838" y="2025650"/>
                  </a:cubicBezTo>
                  <a:lnTo>
                    <a:pt x="15096" y="2025650"/>
                  </a:lnTo>
                  <a:cubicBezTo>
                    <a:pt x="11093" y="2025650"/>
                    <a:pt x="7253" y="2024059"/>
                    <a:pt x="4422" y="2021228"/>
                  </a:cubicBezTo>
                  <a:cubicBezTo>
                    <a:pt x="1591" y="2018397"/>
                    <a:pt x="0" y="2014557"/>
                    <a:pt x="0" y="2010553"/>
                  </a:cubicBezTo>
                  <a:lnTo>
                    <a:pt x="0" y="15096"/>
                  </a:lnTo>
                  <a:cubicBezTo>
                    <a:pt x="0" y="11093"/>
                    <a:pt x="1591" y="7253"/>
                    <a:pt x="4422" y="4422"/>
                  </a:cubicBezTo>
                  <a:cubicBezTo>
                    <a:pt x="7253" y="1591"/>
                    <a:pt x="11093" y="0"/>
                    <a:pt x="15096" y="0"/>
                  </a:cubicBezTo>
                  <a:lnTo>
                    <a:pt x="3901838" y="0"/>
                  </a:lnTo>
                  <a:cubicBezTo>
                    <a:pt x="3905841" y="0"/>
                    <a:pt x="3909682" y="1591"/>
                    <a:pt x="3912512" y="4422"/>
                  </a:cubicBezTo>
                  <a:cubicBezTo>
                    <a:pt x="3915344" y="7253"/>
                    <a:pt x="3916934" y="11093"/>
                    <a:pt x="3916934" y="15096"/>
                  </a:cubicBezTo>
                  <a:close/>
                </a:path>
              </a:pathLst>
            </a:custGeom>
            <a:solidFill>
              <a:srgbClr val="C3C5C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916934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8781" y="877675"/>
            <a:ext cx="6534348" cy="5246370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76" t="0" r="-68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94348" y="644856"/>
            <a:ext cx="3299305" cy="40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7"/>
              </a:lnSpc>
              <a:spcBef>
                <a:spcPct val="0"/>
              </a:spcBef>
            </a:pPr>
            <a:r>
              <a:rPr lang="en-US" b="true" sz="280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4000">
            <a:off x="-35685" y="-63711"/>
            <a:ext cx="18359371" cy="10414423"/>
          </a:xfrm>
          <a:custGeom>
            <a:avLst/>
            <a:gdLst/>
            <a:ahLst/>
            <a:cxnLst/>
            <a:rect r="r" b="b" t="t" l="l"/>
            <a:pathLst>
              <a:path h="10414423" w="18359371">
                <a:moveTo>
                  <a:pt x="71816" y="0"/>
                </a:moveTo>
                <a:lnTo>
                  <a:pt x="18359370" y="127673"/>
                </a:lnTo>
                <a:lnTo>
                  <a:pt x="18287554" y="10414422"/>
                </a:lnTo>
                <a:lnTo>
                  <a:pt x="0" y="10286749"/>
                </a:lnTo>
                <a:lnTo>
                  <a:pt x="71816" y="0"/>
                </a:lnTo>
                <a:close/>
              </a:path>
            </a:pathLst>
          </a:custGeom>
          <a:blipFill>
            <a:blip r:embed="rId2"/>
            <a:stretch>
              <a:fillRect l="-8345" t="-9866" r="-7667" b="-64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39567" y="1619016"/>
            <a:ext cx="13578460" cy="7048968"/>
            <a:chOff x="0" y="0"/>
            <a:chExt cx="3576220" cy="1856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6220" cy="1856518"/>
            </a:xfrm>
            <a:custGeom>
              <a:avLst/>
              <a:gdLst/>
              <a:ahLst/>
              <a:cxnLst/>
              <a:rect r="r" b="b" t="t" l="l"/>
              <a:pathLst>
                <a:path h="1856518" w="3576220">
                  <a:moveTo>
                    <a:pt x="0" y="0"/>
                  </a:moveTo>
                  <a:lnTo>
                    <a:pt x="3576220" y="0"/>
                  </a:lnTo>
                  <a:lnTo>
                    <a:pt x="3576220" y="1856518"/>
                  </a:lnTo>
                  <a:lnTo>
                    <a:pt x="0" y="1856518"/>
                  </a:lnTo>
                  <a:close/>
                </a:path>
              </a:pathLst>
            </a:custGeom>
            <a:solidFill>
              <a:srgbClr val="B0A79B">
                <a:alpha val="2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576220" cy="1837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497487" y="840824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708639" y="188826"/>
            <a:ext cx="4102687" cy="43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9"/>
              </a:lnSpc>
              <a:spcBef>
                <a:spcPct val="0"/>
              </a:spcBef>
            </a:pPr>
            <a:r>
              <a:rPr lang="en-US" sz="30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208" y="3986595"/>
            <a:ext cx="9869179" cy="185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7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🎓 Student Module – Timetable, assignments, attendance &amp; AI Q&amp;A</a:t>
            </a:r>
          </a:p>
          <a:p>
            <a:pPr algn="l" marL="0" indent="0" lvl="0">
              <a:lnSpc>
                <a:spcPts val="2157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👨‍🏫 Faculty Module – Upload materials, mark attendance, give feedback</a:t>
            </a:r>
          </a:p>
          <a:p>
            <a:pPr algn="l" marL="0" indent="0" lvl="0">
              <a:lnSpc>
                <a:spcPts val="2157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🛡️ Admin Module – Manage users, notices &amp; academic data</a:t>
            </a:r>
          </a:p>
          <a:p>
            <a:pPr algn="l" marL="0" indent="0" lvl="0">
              <a:lnSpc>
                <a:spcPts val="2157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🤖 AI / RAG Module – Document-based answers using Gemini + LangChain4j</a:t>
            </a:r>
          </a:p>
          <a:p>
            <a:pPr algn="l" marL="0" indent="0" lvl="0">
              <a:lnSpc>
                <a:spcPts val="2157"/>
              </a:lnSpc>
              <a:spcBef>
                <a:spcPct val="0"/>
              </a:spcBef>
            </a:pPr>
            <a:r>
              <a:rPr lang="en-US" sz="21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💼 Placement Suite – Resume tips, mock tests &amp; company prep resources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5849" y="9149026"/>
            <a:ext cx="13578460" cy="19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63"/>
              </a:lnSpc>
              <a:spcBef>
                <a:spcPct val="0"/>
              </a:spcBef>
            </a:pPr>
            <a:r>
              <a:rPr lang="en-US" sz="14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module works together on one unified platform for a seamless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5849" y="2081008"/>
            <a:ext cx="13578460" cy="7048968"/>
            <a:chOff x="0" y="0"/>
            <a:chExt cx="3576220" cy="18565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76220" cy="1856518"/>
            </a:xfrm>
            <a:custGeom>
              <a:avLst/>
              <a:gdLst/>
              <a:ahLst/>
              <a:cxnLst/>
              <a:rect r="r" b="b" t="t" l="l"/>
              <a:pathLst>
                <a:path h="1856518" w="3576220">
                  <a:moveTo>
                    <a:pt x="0" y="0"/>
                  </a:moveTo>
                  <a:lnTo>
                    <a:pt x="3576220" y="0"/>
                  </a:lnTo>
                  <a:lnTo>
                    <a:pt x="3576220" y="1856518"/>
                  </a:lnTo>
                  <a:lnTo>
                    <a:pt x="0" y="1856518"/>
                  </a:lnTo>
                  <a:close/>
                </a:path>
              </a:pathLst>
            </a:custGeom>
            <a:solidFill>
              <a:srgbClr val="626262">
                <a:alpha val="2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576220" cy="1837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497487" y="840824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729172" y="1071744"/>
            <a:ext cx="4102687" cy="33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60782" y="4983718"/>
            <a:ext cx="6856776" cy="128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📱 Mobile App – Access everything on the go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🎙️ Voice Assistant – Ask queries using voice commands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✍️ Handwritten OCR – Scan handwritten answer sheets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📷 Facial Attendance – Auto mark attendance via face recognition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🌐 Multilingual Support – Use the system in your language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📊 Advanced Analytics – Track progress with smart dashboards</a:t>
            </a:r>
          </a:p>
          <a:p>
            <a:pPr algn="l" marL="0" indent="0" lvl="0">
              <a:lnSpc>
                <a:spcPts val="1434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🤖 AI Exam Checking – Fully automated answer evaluation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5849" y="9129976"/>
            <a:ext cx="13578460" cy="2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Planned enhancements to make the system smarter, more accessible, and fully automated.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7981" y="1465763"/>
            <a:ext cx="14872039" cy="7690771"/>
            <a:chOff x="0" y="0"/>
            <a:chExt cx="3916934" cy="2025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16934" cy="2025650"/>
            </a:xfrm>
            <a:custGeom>
              <a:avLst/>
              <a:gdLst/>
              <a:ahLst/>
              <a:cxnLst/>
              <a:rect r="r" b="b" t="t" l="l"/>
              <a:pathLst>
                <a:path h="2025650" w="3916934">
                  <a:moveTo>
                    <a:pt x="3916934" y="15096"/>
                  </a:moveTo>
                  <a:lnTo>
                    <a:pt x="3916934" y="2010553"/>
                  </a:lnTo>
                  <a:cubicBezTo>
                    <a:pt x="3916934" y="2014557"/>
                    <a:pt x="3915344" y="2018397"/>
                    <a:pt x="3912512" y="2021228"/>
                  </a:cubicBezTo>
                  <a:cubicBezTo>
                    <a:pt x="3909682" y="2024059"/>
                    <a:pt x="3905841" y="2025650"/>
                    <a:pt x="3901838" y="2025650"/>
                  </a:cubicBezTo>
                  <a:lnTo>
                    <a:pt x="15096" y="2025650"/>
                  </a:lnTo>
                  <a:cubicBezTo>
                    <a:pt x="11093" y="2025650"/>
                    <a:pt x="7253" y="2024059"/>
                    <a:pt x="4422" y="2021228"/>
                  </a:cubicBezTo>
                  <a:cubicBezTo>
                    <a:pt x="1591" y="2018397"/>
                    <a:pt x="0" y="2014557"/>
                    <a:pt x="0" y="2010553"/>
                  </a:cubicBezTo>
                  <a:lnTo>
                    <a:pt x="0" y="15096"/>
                  </a:lnTo>
                  <a:cubicBezTo>
                    <a:pt x="0" y="11093"/>
                    <a:pt x="1591" y="7253"/>
                    <a:pt x="4422" y="4422"/>
                  </a:cubicBezTo>
                  <a:cubicBezTo>
                    <a:pt x="7253" y="1591"/>
                    <a:pt x="11093" y="0"/>
                    <a:pt x="15096" y="0"/>
                  </a:cubicBezTo>
                  <a:lnTo>
                    <a:pt x="3901838" y="0"/>
                  </a:lnTo>
                  <a:cubicBezTo>
                    <a:pt x="3905841" y="0"/>
                    <a:pt x="3909682" y="1591"/>
                    <a:pt x="3912512" y="4422"/>
                  </a:cubicBezTo>
                  <a:cubicBezTo>
                    <a:pt x="3915344" y="7253"/>
                    <a:pt x="3916934" y="11093"/>
                    <a:pt x="3916934" y="15096"/>
                  </a:cubicBezTo>
                  <a:close/>
                </a:path>
              </a:pathLst>
            </a:custGeom>
            <a:solidFill>
              <a:srgbClr val="C3C5C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916934" cy="200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58781" y="877675"/>
            <a:ext cx="6534348" cy="5246370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381" t="0" r="-38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494348" y="663906"/>
            <a:ext cx="3299305" cy="49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8"/>
              </a:lnSpc>
              <a:spcBef>
                <a:spcPct val="0"/>
              </a:spcBef>
            </a:pPr>
            <a:r>
              <a:rPr lang="en-US" b="true" sz="352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25145" y="847871"/>
            <a:ext cx="6437709" cy="819150"/>
            <a:chOff x="0" y="0"/>
            <a:chExt cx="1695528" cy="2157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5528" cy="215743"/>
            </a:xfrm>
            <a:custGeom>
              <a:avLst/>
              <a:gdLst/>
              <a:ahLst/>
              <a:cxnLst/>
              <a:rect r="r" b="b" t="t" l="l"/>
              <a:pathLst>
                <a:path h="215743" w="1695528">
                  <a:moveTo>
                    <a:pt x="1492328" y="0"/>
                  </a:moveTo>
                  <a:lnTo>
                    <a:pt x="0" y="0"/>
                  </a:lnTo>
                  <a:lnTo>
                    <a:pt x="0" y="215743"/>
                  </a:lnTo>
                  <a:lnTo>
                    <a:pt x="1492328" y="215743"/>
                  </a:lnTo>
                  <a:lnTo>
                    <a:pt x="1695528" y="107872"/>
                  </a:lnTo>
                  <a:lnTo>
                    <a:pt x="1492328" y="0"/>
                  </a:lnTo>
                  <a:close/>
                </a:path>
              </a:pathLst>
            </a:custGeom>
            <a:solidFill>
              <a:srgbClr val="496B91">
                <a:alpha val="45882"/>
              </a:srgbClr>
            </a:solidFill>
            <a:ln w="38100" cap="sq">
              <a:solidFill>
                <a:srgbClr val="000000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581228" cy="196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91795" y="1066800"/>
            <a:ext cx="6437709" cy="4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3"/>
              </a:lnSpc>
              <a:spcBef>
                <a:spcPct val="0"/>
              </a:spcBef>
            </a:pPr>
            <a:r>
              <a:rPr lang="en-US" b="true" sz="29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DAHUZUHukhY</dc:identifier>
  <dcterms:modified xsi:type="dcterms:W3CDTF">2011-08-01T06:04:30Z</dcterms:modified>
  <cp:revision>1</cp:revision>
  <dc:title>AI Smart College Assistant: Intelligent Academic Management</dc:title>
</cp:coreProperties>
</file>